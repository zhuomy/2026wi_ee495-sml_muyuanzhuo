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0" r:id="rId3"/>
    <p:sldId id="288" r:id="rId4"/>
    <p:sldId id="289" r:id="rId5"/>
    <p:sldId id="290" r:id="rId6"/>
    <p:sldId id="291" r:id="rId7"/>
    <p:sldId id="292" r:id="rId8"/>
    <p:sldId id="272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884" autoAdjust="0"/>
  </p:normalViewPr>
  <p:slideViewPr>
    <p:cSldViewPr snapToGrid="0" snapToObjects="1">
      <p:cViewPr varScale="1">
        <p:scale>
          <a:sx n="110" d="100"/>
          <a:sy n="110" d="100"/>
        </p:scale>
        <p:origin x="110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1952-4C8C-594A-8D47-CC3EBD31CD69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2E9FD-FA40-FC48-8917-175ED0BCC7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2048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B390-5FDB-F4C2-DC99-985512C0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DA292-8C10-1EE4-FD2F-EE2803E74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B1822-4F0B-89AF-8618-65A10CAD0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90EAC-DE6E-2C4D-0222-EA88DC1F9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823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AC99-10D3-852E-B962-D7449D21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E8D32-4B6C-4C0A-465C-A36ABBBF8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AC823-8594-0AFE-87A1-F12251D6D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0FE26-28CD-86B5-51B1-620AC0ECB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205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3466B-4A99-F2F5-28A1-C1730C3F8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5E228-A4D7-7DE9-C2FC-1594123CA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B4C0C-7441-97E2-4CC1-A0C956D16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CF2BB-6151-79BE-13CD-BA76CF17D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411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682C-E94D-1CA9-F2A6-C0E4EB25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9FD60-8C13-0012-2BAF-308E55596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DFD3D-8CED-1F6F-2AC8-1A00A12AF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360EA-CEE8-9D25-89E7-6932BC541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850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9144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20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FA5DAB8B-8178-D047-869E-5A62AF236443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40608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9168" y="6356350"/>
            <a:ext cx="5975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004" y="1149919"/>
            <a:ext cx="8082951" cy="2645703"/>
          </a:xfrm>
        </p:spPr>
        <p:txBody>
          <a:bodyPr>
            <a:normAutofit/>
          </a:bodyPr>
          <a:lstStyle/>
          <a:p>
            <a:r>
              <a:rPr lang="en-US" dirty="0"/>
              <a:t>System Identification of Damped Harmonic Oscillators via Physics-Informed HNNs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9250" y="3574211"/>
            <a:ext cx="7074749" cy="1752600"/>
          </a:xfrm>
        </p:spPr>
        <p:txBody>
          <a:bodyPr>
            <a:normAutofit lnSpcReduction="10000"/>
          </a:bodyPr>
          <a:lstStyle/>
          <a:p>
            <a:pPr algn="r"/>
            <a:endParaRPr lang="en-US" sz="2400" dirty="0"/>
          </a:p>
          <a:p>
            <a:pPr algn="r"/>
            <a:endParaRPr lang="en-US" sz="2400" dirty="0"/>
          </a:p>
          <a:p>
            <a:pPr algn="r"/>
            <a:r>
              <a:rPr lang="en-US" sz="2400" dirty="0"/>
              <a:t>Muyuan Zhuo</a:t>
            </a:r>
          </a:p>
          <a:p>
            <a:pPr algn="r"/>
            <a:r>
              <a:rPr lang="en-US" sz="2400" dirty="0"/>
              <a:t>2026 Winter - EE495</a:t>
            </a:r>
          </a:p>
        </p:txBody>
      </p:sp>
    </p:spTree>
    <p:extLst>
      <p:ext uri="{BB962C8B-B14F-4D97-AF65-F5344CB8AC3E}">
        <p14:creationId xmlns:p14="http://schemas.microsoft.com/office/powerpoint/2010/main" val="415433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63"/>
    </mc:Choice>
    <mc:Fallback xmlns="">
      <p:transition spd="slow" advTm="2056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The Problem: Learning from Imperfect Data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203385"/>
            <a:ext cx="9144000" cy="2751828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</a:pPr>
            <a:r>
              <a:rPr lang="en-US" sz="1800" b="1" dirty="0">
                <a:solidFill>
                  <a:schemeClr val="tx1"/>
                </a:solidFill>
              </a:rPr>
              <a:t>P</a:t>
            </a:r>
            <a:r>
              <a:rPr lang="en-US" altLang="zh-CN" sz="1800" b="1" dirty="0">
                <a:solidFill>
                  <a:schemeClr val="tx1"/>
                </a:solidFill>
              </a:rPr>
              <a:t>ain points: </a:t>
            </a: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Sparse Data,</a:t>
            </a: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Noisy Measurements, </a:t>
            </a: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Overfitting</a:t>
            </a:r>
          </a:p>
          <a:p>
            <a:pPr marL="742950" lvl="1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……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831252-1857-703F-CF50-5FCD2E7B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794" y="1771651"/>
            <a:ext cx="4872374" cy="383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0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79"/>
    </mc:Choice>
    <mc:Fallback xmlns="">
      <p:transition spd="slow" advTm="5447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2C99-0EF0-AED3-F770-DEA9B57F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FB3A-4435-E082-2FF9-B230204E4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Current Approaches &amp; The Gap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457E2-B290-C543-F761-2B7E5281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3E336B-7D0E-F217-D870-5D04D3002AAC}"/>
              </a:ext>
            </a:extLst>
          </p:cNvPr>
          <p:cNvCxnSpPr>
            <a:cxnSpLocks/>
          </p:cNvCxnSpPr>
          <p:nvPr/>
        </p:nvCxnSpPr>
        <p:spPr>
          <a:xfrm>
            <a:off x="4572000" y="1233577"/>
            <a:ext cx="0" cy="4399472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1F332-073E-1606-424D-512E590A03E5}"/>
                  </a:ext>
                </a:extLst>
              </p:cNvPr>
              <p:cNvSpPr txBox="1"/>
              <p:nvPr/>
            </p:nvSpPr>
            <p:spPr>
              <a:xfrm>
                <a:off x="875582" y="1233577"/>
                <a:ext cx="3183147" cy="1471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b="1" dirty="0"/>
                  <a:t>C</a:t>
                </a:r>
                <a:r>
                  <a:rPr lang="en-US" altLang="zh-CN" b="1" dirty="0"/>
                  <a:t>urrent </a:t>
                </a:r>
                <a:r>
                  <a:rPr lang="en-US" altLang="zh-CN" b="1" dirty="0" err="1"/>
                  <a:t>SciML</a:t>
                </a:r>
                <a:endParaRPr lang="en-US" b="1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Standard HNNs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𝑑𝐻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1F332-073E-1606-424D-512E590A0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82" y="1233577"/>
                <a:ext cx="3183147" cy="1471941"/>
              </a:xfrm>
              <a:prstGeom prst="rect">
                <a:avLst/>
              </a:prstGeom>
              <a:blipFill>
                <a:blip r:embed="rId3"/>
                <a:stretch>
                  <a:fillRect b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48D517-B96F-C180-DC7D-CB1B34DF9AFB}"/>
              </a:ext>
            </a:extLst>
          </p:cNvPr>
          <p:cNvSpPr txBox="1"/>
          <p:nvPr/>
        </p:nvSpPr>
        <p:spPr>
          <a:xfrm>
            <a:off x="5085271" y="1229816"/>
            <a:ext cx="318314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Reality</a:t>
            </a:r>
          </a:p>
          <a:p>
            <a:pPr algn="ctr">
              <a:lnSpc>
                <a:spcPct val="150000"/>
              </a:lnSpc>
            </a:pPr>
            <a:r>
              <a:rPr lang="en-US" dirty="0"/>
              <a:t>Non-conservative / Friction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BEE899-B2B7-7E6D-FEA3-42E640887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181" y="2915728"/>
            <a:ext cx="3345947" cy="25935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435845-0D44-8C7B-CDD0-860CBBCC5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364" y="2915728"/>
            <a:ext cx="3299053" cy="259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0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79"/>
    </mc:Choice>
    <mc:Fallback xmlns="">
      <p:transition spd="slow" advTm="5447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F45D7-CA6D-338D-68EF-DF13036E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B0E3-51FC-2279-1C78-3D1314275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Our Proposal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A35C9-515F-1398-1159-A49B92D50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1077CAB-2D60-5E98-AD25-1D5A24803028}"/>
              </a:ext>
            </a:extLst>
          </p:cNvPr>
          <p:cNvSpPr txBox="1">
            <a:spLocks/>
          </p:cNvSpPr>
          <p:nvPr/>
        </p:nvSpPr>
        <p:spPr>
          <a:xfrm>
            <a:off x="0" y="1367287"/>
            <a:ext cx="9144000" cy="3014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Modify HNN for dissipative forces.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Robustly reconstruct trajectories.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Identify hidden damping parameters.</a:t>
            </a:r>
          </a:p>
        </p:txBody>
      </p:sp>
    </p:spTree>
    <p:extLst>
      <p:ext uri="{BB962C8B-B14F-4D97-AF65-F5344CB8AC3E}">
        <p14:creationId xmlns:p14="http://schemas.microsoft.com/office/powerpoint/2010/main" val="23079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79"/>
    </mc:Choice>
    <mc:Fallback xmlns="">
      <p:transition spd="slow" advTm="544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08B-4791-FA36-1D64-CB8F0BD5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19DE-601B-0A46-F63B-144C1BD40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Methodology: The Physics Prior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8B47-C397-1B98-F6CE-936FCE71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79231-98BB-497D-89CD-BAB2EC810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6297"/>
            <a:ext cx="9144000" cy="231727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575836-D406-3B85-FFC1-CBFEEDC547C5}"/>
              </a:ext>
            </a:extLst>
          </p:cNvPr>
          <p:cNvCxnSpPr/>
          <p:nvPr/>
        </p:nvCxnSpPr>
        <p:spPr>
          <a:xfrm>
            <a:off x="4684143" y="4069242"/>
            <a:ext cx="353683" cy="53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644A5A-8844-3B90-B473-C20EA7C87E31}"/>
              </a:ext>
            </a:extLst>
          </p:cNvPr>
          <p:cNvSpPr txBox="1"/>
          <p:nvPr/>
        </p:nvSpPr>
        <p:spPr>
          <a:xfrm>
            <a:off x="5037826" y="4499754"/>
            <a:ext cx="2717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Learnable Dissipation Term</a:t>
            </a:r>
          </a:p>
        </p:txBody>
      </p:sp>
    </p:spTree>
    <p:extLst>
      <p:ext uri="{BB962C8B-B14F-4D97-AF65-F5344CB8AC3E}">
        <p14:creationId xmlns:p14="http://schemas.microsoft.com/office/powerpoint/2010/main" val="254625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79"/>
    </mc:Choice>
    <mc:Fallback xmlns="">
      <p:transition spd="slow" advTm="5447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A3CE-6194-0CFF-C17B-052AD02B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70AB-355C-6E53-2D96-1D2169479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Methodology: Network Architecture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9126D-039F-74F5-56CB-83F8CF70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34DDF5-04AC-C65D-795C-EB0AD586E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00" y="1725282"/>
            <a:ext cx="7939599" cy="276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6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79"/>
    </mc:Choice>
    <mc:Fallback xmlns="">
      <p:transition spd="slow" advTm="5447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93779-B198-45F5-3454-D3E53473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CBFE-05B7-0EC9-4CAC-E4ED51E50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Experimental Setup &amp; Results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9D7DE-4140-E6B6-14EE-CB6BCED8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10ECE8E-DCC7-2607-5239-7FCF1CB29DB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727440"/>
                <a:ext cx="9144000" cy="1798607"/>
              </a:xfrm>
            </p:spPr>
            <p:txBody>
              <a:bodyPr>
                <a:noAutofit/>
              </a:bodyPr>
              <a:lstStyle/>
              <a:p>
                <a:pPr marL="742950" lvl="1" indent="-285750" algn="l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True Damping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742950" lvl="1" indent="-285750" algn="l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</a:rPr>
                  <a:t>Only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80</a:t>
                </a:r>
                <a:r>
                  <a:rPr lang="en-US" sz="1800" dirty="0">
                    <a:solidFill>
                      <a:schemeClr val="tx1"/>
                    </a:solidFill>
                  </a:rPr>
                  <a:t> data points</a:t>
                </a:r>
              </a:p>
              <a:p>
                <a:pPr marL="742950" lvl="1" indent="-285750" algn="l">
                  <a:lnSpc>
                    <a:spcPct val="170000"/>
                  </a:lnSpc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5% </a:t>
                </a:r>
                <a:r>
                  <a:rPr lang="en-US" sz="1800" dirty="0">
                    <a:solidFill>
                      <a:schemeClr val="tx1"/>
                    </a:solidFill>
                  </a:rPr>
                  <a:t>Gaussian noise</a:t>
                </a: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10ECE8E-DCC7-2607-5239-7FCF1CB29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727440"/>
                <a:ext cx="9144000" cy="179860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9332498-E8F4-A68A-95C2-AD15938DF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88" y="1203385"/>
            <a:ext cx="5733753" cy="467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2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479"/>
    </mc:Choice>
    <mc:Fallback xmlns="">
      <p:transition spd="slow" advTm="5447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061A-8FC2-45DE-079D-5C0F55317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4D98-A178-D9CC-CBC9-BE38166F2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Discussion: The Overfitting Paradox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CFC99-4430-C44D-E94C-339C523D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E12CD-FCB1-464E-A775-0B83FDDACE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44D647-FA7C-4543-C827-B4F622EB0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71" y="1674463"/>
            <a:ext cx="3858163" cy="3267531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A211E1F-CC79-B811-FF04-338F7F030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6174" y="2408924"/>
            <a:ext cx="5037826" cy="1947416"/>
          </a:xfrm>
        </p:spPr>
        <p:txBody>
          <a:bodyPr>
            <a:noAutofit/>
          </a:bodyPr>
          <a:lstStyle/>
          <a:p>
            <a:pPr lvl="1" algn="l">
              <a:lnSpc>
                <a:spcPct val="170000"/>
              </a:lnSpc>
            </a:pPr>
            <a:r>
              <a:rPr lang="en-US" sz="1800" dirty="0">
                <a:solidFill>
                  <a:schemeClr val="tx1"/>
                </a:solidFill>
              </a:rPr>
              <a:t>Baseline MLP has lower training loss, but fails to generalize. Purely data-driven fits noise; Physics acts as a </a:t>
            </a:r>
            <a:r>
              <a:rPr lang="en-US" sz="1800" dirty="0" err="1">
                <a:solidFill>
                  <a:schemeClr val="tx1"/>
                </a:solidFill>
              </a:rPr>
              <a:t>regularizer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297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5"/>
    </mc:Choice>
    <mc:Fallback xmlns="">
      <p:transition spd="slow" advTm="4864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29956-E88A-F5E0-3C76-B7F9793E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4800-5B79-4843-DC72-52948D649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Results: Parameter Extraction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D7FD2-7BC0-9C38-D277-65AC68F5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E12CD-FCB1-464E-A775-0B83FDDACE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0F1666-6C0A-5603-FE9E-2725E01EC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799" y="3548663"/>
            <a:ext cx="2992402" cy="1994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D6AD6F-1CDD-E1D6-C7F1-DE8E52A45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4024" y="1787121"/>
            <a:ext cx="5915952" cy="14700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D40FFD1-FC58-5AA6-5695-CD4E9C8BB875}"/>
              </a:ext>
            </a:extLst>
          </p:cNvPr>
          <p:cNvSpPr/>
          <p:nvPr/>
        </p:nvSpPr>
        <p:spPr>
          <a:xfrm>
            <a:off x="4468483" y="2924355"/>
            <a:ext cx="1000664" cy="250166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1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293"/>
    </mc:Choice>
    <mc:Fallback xmlns="">
      <p:transition spd="slow" advTm="9029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58E49-B056-851D-E8DC-1419D690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92D31-23FC-0709-F05C-C4F6FFAD7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580"/>
            <a:ext cx="9144000" cy="1470025"/>
          </a:xfrm>
        </p:spPr>
        <p:txBody>
          <a:bodyPr>
            <a:normAutofit/>
          </a:bodyPr>
          <a:lstStyle/>
          <a:p>
            <a:r>
              <a:rPr lang="en-US" sz="2400" b="1" dirty="0"/>
              <a:t>Conclusion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72350-B0C0-141B-6F21-2CD32252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E12CD-FCB1-464E-A775-0B83FDDACE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008A2-5C1E-35B9-FBED-30B3FCED0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5514"/>
            <a:ext cx="9144000" cy="4006971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Success in non-conservative environments.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</a:rPr>
              <a:t>Accurate extraction of hidden physical parameters.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</a:rPr>
              <a:t>Future: Port-Hamiltonian / Chaotic dissipative systems.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03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08"/>
    </mc:Choice>
    <mc:Fallback xmlns="">
      <p:transition spd="slow" advTm="50908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2014</TotalTime>
  <Words>166</Words>
  <Application>Microsoft Office PowerPoint</Application>
  <PresentationFormat>On-screen Show (4:3)</PresentationFormat>
  <Paragraphs>48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System Identification of Damped Harmonic Oscillators via Physics-Informed HNNs</vt:lpstr>
      <vt:lpstr>The Problem: Learning from Imperfect Data</vt:lpstr>
      <vt:lpstr>Current Approaches &amp; The Gap</vt:lpstr>
      <vt:lpstr>Our Proposal</vt:lpstr>
      <vt:lpstr>Methodology: The Physics Prior</vt:lpstr>
      <vt:lpstr>Methodology: Network Architecture</vt:lpstr>
      <vt:lpstr>Experimental Setup &amp; Results</vt:lpstr>
      <vt:lpstr>Discussion: The Overfitting Paradox</vt:lpstr>
      <vt:lpstr>Results: Parameter Extraction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Geraldo Rivera</dc:creator>
  <cp:lastModifiedBy>Muyuan Zhuo</cp:lastModifiedBy>
  <cp:revision>65</cp:revision>
  <dcterms:created xsi:type="dcterms:W3CDTF">2015-07-21T16:44:10Z</dcterms:created>
  <dcterms:modified xsi:type="dcterms:W3CDTF">2026-03-17T20:51:12Z</dcterms:modified>
</cp:coreProperties>
</file>